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65760"/>
            <a:ext cx="2103120" cy="3200400"/>
          </a:xfrm>
          <a:prstGeom prst="rect">
            <a:avLst/>
          </a:prstGeom>
          <a:solidFill>
            <a:srgbClr val="132E4A">
              <a:alpha val="70000"/>
            </a:srgbClr>
          </a:solidFill>
          <a:ln w="12700">
            <a:solidFill>
              <a:srgbClr val="132E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65760"/>
            <a:ext cx="2560320" cy="347472"/>
          </a:xfrm>
          <a:prstGeom prst="rect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65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VERTRIEBSREPORTING | KICK-OFF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Dispositive Datenbank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Reportinglandschaft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Vorarbeiten · Architektur · Roadmap · Chancen &amp; Realismus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0" y="548640"/>
            <a:ext cx="192024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</a:rPr>
              <a:t>Datum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23. April 2025
</a:t>
            </a:r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</a:rPr>
              <a:t>Anlass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KickOff Vertriebsreporting
</a:t>
            </a:r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</a:rPr>
              <a:t>Referent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&amp; Analytics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Interne Unterlage · Vertraulich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978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Kontext &amp; Ziel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085"/>
                </a:solidFill>
              </a:rPr>
              <a:t>Warum eine dispositive Datenbank?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50292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Vorarbeiten &amp; erste Ergebnisse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933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085"/>
                </a:solidFill>
              </a:rPr>
              <a:t>Deltaanalysen, Zeitreihen, Regressionen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78024"/>
            <a:ext cx="50292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496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Architektur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523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085"/>
                </a:solidFill>
              </a:rPr>
              <a:t>Dateingest · Bronze→Silver→Gold · Container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4495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36976"/>
            <a:ext cx="50292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2552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Roadmap &amp; Projektstart August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112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085"/>
                </a:solidFill>
              </a:rPr>
              <a:t>MS Fabric, Databricks, abteilungsübergreifend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03904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95928"/>
            <a:ext cx="50292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0142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Nächste Schritte &amp; Zusammenarbeit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2702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085"/>
                </a:solidFill>
              </a:rPr>
              <a:t>Was wir gemeinsam brauchen — und ein Wort zur Realistik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· Kontext &amp; Ziel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1148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</a:rPr>
              <a:t>Heute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264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Reporting in Silos — Excel, Insellösungen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836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47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Kein einheitliches Bild der Vertriebsperformance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408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Manueller Aufwand, fehleranfällig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Daten aus zwei Kernsystemen (Leben / Nicht-Leben) unverbunden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552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Keine systematische Trendanalyse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114800" cy="3474720"/>
          </a:xfrm>
          <a:prstGeom prst="rect">
            <a:avLst/>
          </a:prstGeom>
          <a:solidFill>
            <a:srgbClr val="EBF5F8"/>
          </a:solidFill>
          <a:ln w="12700">
            <a:solidFill>
              <a:srgbClr val="2A9D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</a:rPr>
              <a:t>Zielzustand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42646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Dispositive DB als Single Source of Truth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88366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847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Automatisierter Datenfluss aus Leben &amp; Nicht-Leben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4086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Bronze → Silver → Gold: saubere Datenschichten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79806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Self-Service Reporting für Vertrieb &amp;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25526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Grundlage für KI-gestützte Analysen (langfristig)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· Vorarbeiten &amp; erste Ergebnisse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085"/>
                </a:solidFill>
              </a:rPr>
              <a:t>Bereits geleistete Arbeit — ein konkreter Vorsprung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148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109728" cy="15087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3898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8A"/>
                </a:solidFill>
              </a:rPr>
              <a:t>Delta­analysen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18928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Vergleich von Perioden, Abweichungsanalysen auf Vertragsebene — Basis für Frühwarnsysteme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1148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98448"/>
            <a:ext cx="109728" cy="1508760"/>
          </a:xfrm>
          <a:prstGeom prst="rect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3898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BF"/>
                </a:solidFill>
              </a:rPr>
              <a:t>Zeitreihen­analyse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9DBF"/>
                </a:solidFill>
              </a:rPr>
              <a:t>Vertriebsreporting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8928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Trends über Monate &amp; Quartale, saisonale Muster, Plausibilitätsprüfung der Rohdaten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41148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07792"/>
            <a:ext cx="109728" cy="1508760"/>
          </a:xfrm>
          <a:prstGeom prst="rect">
            <a:avLst/>
          </a:prstGeom>
          <a:solidFill>
            <a:srgbClr val="1A6B6A"/>
          </a:solidFill>
          <a:ln w="12700">
            <a:solidFill>
              <a:srgbClr val="1A6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9992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6A"/>
                </a:solidFill>
              </a:rPr>
              <a:t>Regressions­analysen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" y="35021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Hypothetisch erschlossen: lineare &amp; multiple Regression als Grundlage für Prognosemodelle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907792"/>
            <a:ext cx="41148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07792"/>
            <a:ext cx="109728" cy="1508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9992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IT-Landschaft AS/400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(IFS-Analyse)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35021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Systemtabellen der Kernanwendung dokumentiert, Datenstrukturen für den Ingest vorbereitet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· Datenarchitektur: Ingest bis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234440" cy="822960"/>
          </a:xfrm>
          <a:prstGeom prst="rect">
            <a:avLst/>
          </a:prstGeom>
          <a:solidFill>
            <a:srgbClr val="132E4A"/>
          </a:solidFill>
          <a:ln w="12700">
            <a:solidFill>
              <a:srgbClr val="2A9D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</a:rPr>
              <a:t>Kernsystem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</a:rPr>
              <a:t>LEBEN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91640" y="1005840"/>
            <a:ext cx="1234440" cy="822960"/>
          </a:xfrm>
          <a:prstGeom prst="rect">
            <a:avLst/>
          </a:prstGeom>
          <a:solidFill>
            <a:srgbClr val="132E4A"/>
          </a:solidFill>
          <a:ln w="12700">
            <a:solidFill>
              <a:srgbClr val="2A9D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0058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</a:rPr>
              <a:t>Kernsystem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</a:rPr>
              <a:t>NICHT-LEBEN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3240" y="1417320"/>
            <a:ext cx="457200" cy="0"/>
          </a:xfrm>
          <a:prstGeom prst="line">
            <a:avLst/>
          </a:prstGeom>
          <a:noFill/>
          <a:ln w="25400">
            <a:solidFill>
              <a:srgbClr val="2A9D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960120"/>
            <a:ext cx="1417320" cy="868680"/>
          </a:xfrm>
          <a:prstGeom prst="rect">
            <a:avLst/>
          </a:prstGeom>
          <a:solidFill>
            <a:srgbClr val="7A4A1C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9601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BRONZE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1920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Raw Ingest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Unveränderte Rohdaten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auditierbar &amp; versioniert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10328" y="1417320"/>
            <a:ext cx="256032" cy="0"/>
          </a:xfrm>
          <a:prstGeom prst="line">
            <a:avLst/>
          </a:prstGeom>
          <a:noFill/>
          <a:ln w="25400">
            <a:solidFill>
              <a:srgbClr val="2A9D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960120"/>
            <a:ext cx="1417320" cy="868680"/>
          </a:xfrm>
          <a:prstGeom prst="rect">
            <a:avLst/>
          </a:prstGeom>
          <a:solidFill>
            <a:srgbClr val="5C5E62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9601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SILVER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1920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Cleansed &amp; Conformed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Normalisiert, validiert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gescäftsspezifisch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64808" y="1417320"/>
            <a:ext cx="256032" cy="0"/>
          </a:xfrm>
          <a:prstGeom prst="line">
            <a:avLst/>
          </a:prstGeom>
          <a:noFill/>
          <a:ln w="25400">
            <a:solidFill>
              <a:srgbClr val="2A9D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960120"/>
            <a:ext cx="1417320" cy="868680"/>
          </a:xfrm>
          <a:prstGeom prst="rect">
            <a:avLst/>
          </a:prstGeom>
          <a:solidFill>
            <a:srgbClr val="B8950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9601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1920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Business Aggregates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KPIs, Aggregationen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D8"/>
                </a:solidFill>
              </a:rPr>
              <a:t>reportfertig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24928" y="1874520"/>
            <a:ext cx="0" cy="457200"/>
          </a:xfrm>
          <a:prstGeom prst="line">
            <a:avLst/>
          </a:prstGeom>
          <a:noFill/>
          <a:ln w="25400">
            <a:solidFill>
              <a:srgbClr val="2A9D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880360"/>
            <a:ext cx="8503920" cy="411480"/>
          </a:xfrm>
          <a:prstGeom prst="rect">
            <a:avLst/>
          </a:prstGeom>
          <a:solidFill>
            <a:srgbClr val="0D3A5C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80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▼  DATEN- &amp; BERICHTBEREITSTELLUNG  —  Container / Reports / Self-Service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2011680" cy="1188720"/>
          </a:xfrm>
          <a:prstGeom prst="rect">
            <a:avLst/>
          </a:prstGeom>
          <a:solidFill>
            <a:srgbClr val="0A2036"/>
          </a:solidFill>
          <a:ln w="12700">
            <a:solidFill>
              <a:srgbClr val="1553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29000"/>
            <a:ext cx="2011680" cy="182880"/>
          </a:xfrm>
          <a:prstGeom prst="rect">
            <a:avLst/>
          </a:prstGeom>
          <a:solidFill>
            <a:srgbClr val="1553A0"/>
          </a:solidFill>
          <a:ln w="12700">
            <a:solidFill>
              <a:srgbClr val="1553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39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MS Fabric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(Warehouse)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14600" y="3429000"/>
            <a:ext cx="2011680" cy="1188720"/>
          </a:xfrm>
          <a:prstGeom prst="rect">
            <a:avLst/>
          </a:prstGeom>
          <a:solidFill>
            <a:srgbClr val="0A2036"/>
          </a:solidFill>
          <a:ln w="12700">
            <a:solidFill>
              <a:srgbClr val="E04E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14600" y="3429000"/>
            <a:ext cx="2011680" cy="182880"/>
          </a:xfrm>
          <a:prstGeom prst="rect">
            <a:avLst/>
          </a:prstGeom>
          <a:solidFill>
            <a:srgbClr val="E04E21"/>
          </a:solidFill>
          <a:ln w="12700">
            <a:solidFill>
              <a:srgbClr val="E04E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639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Databricks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(Analytics)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429000"/>
            <a:ext cx="2011680" cy="1188720"/>
          </a:xfrm>
          <a:prstGeom prst="rect">
            <a:avLst/>
          </a:prstGeom>
          <a:solidFill>
            <a:srgbClr val="0A2036"/>
          </a:solidFill>
          <a:ln w="12700">
            <a:solidFill>
              <a:srgbClr val="F2C8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429000"/>
            <a:ext cx="2011680" cy="18288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639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(Visualisierung)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3429000"/>
            <a:ext cx="2011680" cy="1188720"/>
          </a:xfrm>
          <a:prstGeom prst="rect">
            <a:avLst/>
          </a:prstGeom>
          <a:solidFill>
            <a:srgbClr val="0A2036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3429000"/>
            <a:ext cx="2011680" cy="1828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639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Container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ADCC"/>
                </a:solidFill>
              </a:rPr>
              <a:t>Zielgruppen: Vertrieb · Marketing · Controlling · IT · Vorstand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· Roadmap &amp; Projektstart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38100">
            <a:solidFill>
              <a:srgbClr val="1A6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938528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320040" y="23591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Heute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Apr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-32004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Vorarbeiten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Abgeschlossen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-32004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Heute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Apr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1938528"/>
            <a:ext cx="329184" cy="329184"/>
          </a:xfrm>
          <a:prstGeom prst="ellipse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3591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Vorbereitung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Mai–Jul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Anforderungen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Abteilungen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2880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BF"/>
                </a:solidFill>
              </a:rPr>
              <a:t>Vorbereitung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A9DBF"/>
                </a:solidFill>
              </a:rPr>
              <a:t>Mai–Jul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07408" y="1938528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3591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Projekt­start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Aug 2025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9476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MS Fabric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Databricks live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9476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Projekt­start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Aug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73368" y="1938528"/>
            <a:ext cx="329184" cy="329184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3591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Rollout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Q4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Erste Reports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in Produktion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6072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</a:rPr>
              <a:t>Rollout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</a:rPr>
              <a:t>Q4 2025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47888" y="1938528"/>
            <a:ext cx="329184" cy="329184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3591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Vollbetrieb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3524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Alle Abteilungen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A7085"/>
                </a:solidFill>
              </a:rPr>
              <a:t>versorgt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63524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Vollbetrieb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23360" y="914400"/>
            <a:ext cx="1280160" cy="868680"/>
          </a:xfrm>
          <a:prstGeom prst="rect">
            <a:avLst/>
          </a:prstGeom>
          <a:solidFill>
            <a:srgbClr val="FFF8E0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9144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500"/>
                </a:solidFill>
              </a:rPr>
              <a:t>⭐ Offizieller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B6500"/>
                </a:solidFill>
              </a:rPr>
              <a:t>Projektstart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794760"/>
            <a:ext cx="850392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Projektumfang: MS Fabric (inkl. Data Factory &amp; Monitoring) · Databricks · alle Abteilungen des Hauses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Aktuelle Vorarbeiten betreffen: Vertrieb, IFS/AS400-Datenlandschaft, Datenmodell-Grundstruktur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05 · Nächste Schritte &amp; ein Wort zur Realistik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114800" cy="3383280"/>
          </a:xfrm>
          <a:prstGeom prst="rect">
            <a:avLst/>
          </a:prstGeom>
          <a:solidFill>
            <a:srgbClr val="EBF5F8"/>
          </a:solidFill>
          <a:ln w="12700">
            <a:solidFill>
              <a:srgbClr val="2A9D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78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8A"/>
                </a:solidFill>
              </a:rPr>
              <a:t>Was wir gemeinsam brauchen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1399032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Anforderungsworkshops mit Vertrieb &amp; anderen Abteilungen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11096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836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Klare KPI-Definitionen und Report-Abnahme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423160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957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Datenzugang &amp; IT-Unterstützung (AS/400 / IFS)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935224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077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Priorisierung: welche Reports zuerst?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447288"/>
            <a:ext cx="201168" cy="2011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1985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Dediziertes Budget &amp; Ressourcen für Projektstart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914400"/>
            <a:ext cx="4114800" cy="3383280"/>
          </a:xfrm>
          <a:prstGeom prst="rect">
            <a:avLst/>
          </a:prstGeom>
          <a:solidFill>
            <a:srgbClr val="FFF5EB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978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00"/>
                </a:solidFill>
              </a:rPr>
              <a:t>⚠  Kein Overengineering — Realismus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8032" y="1399032"/>
            <a:ext cx="201168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371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Schrittweise Einführung schlägt Big Bang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1911096"/>
            <a:ext cx="201168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8836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Erste Reports müssen schnell echten Mehrwert liefern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423160"/>
            <a:ext cx="201168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3957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Die DB-Architektur ist Mittel, nicht Selbstzweck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935224"/>
            <a:ext cx="201168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9077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Änderungen im Fachbereich kosten Vorlaufzeit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447288"/>
            <a:ext cx="201168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41985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Erwartungsmanagement: voller Betrieb braucht Zeit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gestalten wir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modernes Reporting.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ECDC4"/>
                </a:solidFill>
              </a:rPr>
              <a:t>Die Vorarbeit ist geleistet. Die Architektur steht. Jetzt brauchen wir Ihren Input.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2286000" cy="1371600"/>
          </a:xfrm>
          <a:prstGeom prst="rect">
            <a:avLst/>
          </a:prstGeom>
          <a:solidFill>
            <a:srgbClr val="0D3A5C"/>
          </a:solidFill>
          <a:ln w="12700">
            <a:solidFill>
              <a:srgbClr val="2A9D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37360" y="2971800"/>
            <a:ext cx="640080" cy="457200"/>
          </a:xfrm>
          <a:prstGeom prst="ellipse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Anforderungen Vertrieb aufnehmen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926080"/>
            <a:ext cx="2286000" cy="1371600"/>
          </a:xfrm>
          <a:prstGeom prst="rect">
            <a:avLst/>
          </a:prstGeom>
          <a:solidFill>
            <a:srgbClr val="0D3A5C"/>
          </a:solidFill>
          <a:ln w="12700">
            <a:solidFill>
              <a:srgbClr val="2A9D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2971800"/>
            <a:ext cx="640080" cy="457200"/>
          </a:xfrm>
          <a:prstGeom prst="ellipse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Projektstart August gemeinsam vorbereiten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2286000" cy="1371600"/>
          </a:xfrm>
          <a:prstGeom prst="rect">
            <a:avLst/>
          </a:prstGeom>
          <a:solidFill>
            <a:srgbClr val="0D3A5C"/>
          </a:solidFill>
          <a:ln w="12700">
            <a:solidFill>
              <a:srgbClr val="2A9D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2971800"/>
            <a:ext cx="640080" cy="457200"/>
          </a:xfrm>
          <a:prstGeom prst="ellipse">
            <a:avLst/>
          </a:prstGeom>
          <a:solidFill>
            <a:srgbClr val="2A9DBF"/>
          </a:solidFill>
          <a:ln w="12700">
            <a:solidFill>
              <a:srgbClr val="2A9D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3520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Priorisierung der Reports &amp; KPIs festlegen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Vielen Dank · Fragen &amp; Diskussion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Dispositive Datenbank &amp; Reportinglandschaft</dc:title>
  <dc:subject>PptxGenJS Presentation</dc:subject>
  <dc:creator>PptxGenJS</dc:creator>
  <cp:lastModifiedBy>PptxGenJS</cp:lastModifiedBy>
  <cp:revision>1</cp:revision>
  <dcterms:created xsi:type="dcterms:W3CDTF">2026-04-22T20:54:49Z</dcterms:created>
  <dcterms:modified xsi:type="dcterms:W3CDTF">2026-04-22T20:54:49Z</dcterms:modified>
</cp:coreProperties>
</file>